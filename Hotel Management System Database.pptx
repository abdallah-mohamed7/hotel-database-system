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flipH="1">
            <a:off x="1137148" y="802298"/>
            <a:ext cx="8637073" cy="2541431"/>
          </a:xfrm>
        </p:spPr>
        <p:txBody>
          <a:bodyPr bIns="0" anchor="b">
            <a:normAutofit/>
          </a:bodyPr>
          <a:lstStyle>
            <a:lvl1pPr algn="r" rtl="1">
              <a:defRPr sz="6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flipH="1">
            <a:off x="1137148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r" rtl="1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4973915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9943317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 flipH="1">
            <a:off x="1137148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37146" y="804519"/>
            <a:ext cx="9603275" cy="104923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137146" y="2015732"/>
            <a:ext cx="9603275" cy="3450613"/>
          </a:xfrm>
        </p:spPr>
        <p:txBody>
          <a:bodyPr anchor="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 flipH="1">
            <a:off x="1130582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2094607" y="1756130"/>
            <a:ext cx="8643154" cy="1887950"/>
          </a:xfrm>
        </p:spPr>
        <p:txBody>
          <a:bodyPr anchor="b">
            <a:normAutofit/>
          </a:bodyPr>
          <a:lstStyle>
            <a:lvl1pPr algn="r" rtl="1"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2107315" y="3806195"/>
            <a:ext cx="8630446" cy="1012929"/>
          </a:xfrm>
        </p:spPr>
        <p:txBody>
          <a:bodyPr tIns="91440">
            <a:normAutofit/>
          </a:bodyPr>
          <a:lstStyle>
            <a:lvl1pPr marL="0" indent="0" algn="r" rtl="1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 flipH="1">
            <a:off x="2107315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37148" y="804889"/>
            <a:ext cx="9605635" cy="105930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flipH="1">
            <a:off x="6099517" y="2010878"/>
            <a:ext cx="4645152" cy="3448595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1133077" y="2017343"/>
            <a:ext cx="4645152" cy="3441520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>
            <a:cxnSpLocks/>
          </p:cNvCxnSpPr>
          <p:nvPr/>
        </p:nvCxnSpPr>
        <p:spPr>
          <a:xfrm flipH="1">
            <a:off x="1130582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37148" y="804163"/>
            <a:ext cx="9607661" cy="1056319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6099657" y="2019549"/>
            <a:ext cx="4645152" cy="801943"/>
          </a:xfrm>
        </p:spPr>
        <p:txBody>
          <a:bodyPr anchor="b">
            <a:normAutofit/>
          </a:bodyPr>
          <a:lstStyle>
            <a:lvl1pPr marL="0" indent="0" algn="r" rtl="1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 flipH="1">
            <a:off x="6099657" y="2824269"/>
            <a:ext cx="4645152" cy="2644457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 flipH="1">
            <a:off x="1134486" y="2023003"/>
            <a:ext cx="4645152" cy="802237"/>
          </a:xfrm>
        </p:spPr>
        <p:txBody>
          <a:bodyPr anchor="b">
            <a:normAutofit/>
          </a:bodyPr>
          <a:lstStyle>
            <a:lvl1pPr marL="0" indent="0" algn="r" rtl="1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 flipH="1">
            <a:off x="1134486" y="2821491"/>
            <a:ext cx="4645152" cy="2637371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>
            <a:cxnSpLocks/>
          </p:cNvCxnSpPr>
          <p:nvPr/>
        </p:nvCxnSpPr>
        <p:spPr>
          <a:xfrm flipH="1">
            <a:off x="1130582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37146" y="804519"/>
            <a:ext cx="9603275" cy="104923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 flipH="1">
            <a:off x="1130582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474230" y="798973"/>
            <a:ext cx="3273099" cy="2247117"/>
          </a:xfrm>
        </p:spPr>
        <p:txBody>
          <a:bodyPr anchor="b">
            <a:normAutofit/>
          </a:bodyPr>
          <a:lstStyle>
            <a:lvl1pPr algn="r" rtl="1">
              <a:defRPr sz="24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1135816" y="798974"/>
            <a:ext cx="6012470" cy="4658826"/>
          </a:xfrm>
        </p:spPr>
        <p:txBody>
          <a:bodyPr anchor="ctr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7472316" y="3205491"/>
            <a:ext cx="3275013" cy="2248181"/>
          </a:xfrm>
        </p:spPr>
        <p:txBody>
          <a:bodyPr/>
          <a:lstStyle>
            <a:lvl1pPr marL="0" indent="0" algn="r" rtl="1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 flipH="1">
            <a:off x="747423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H="1">
            <a:off x="640080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5208466" y="1129513"/>
            <a:ext cx="5532328" cy="1830584"/>
          </a:xfrm>
        </p:spPr>
        <p:txBody>
          <a:bodyPr anchor="b">
            <a:normAutofit/>
          </a:bodyPr>
          <a:lstStyle>
            <a:lvl1pPr algn="r" rtl="1"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flipH="1">
            <a:off x="1276440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 rtl="1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H="1">
            <a:off x="5217267" y="3145992"/>
            <a:ext cx="5524404" cy="2003742"/>
          </a:xfrm>
        </p:spPr>
        <p:txBody>
          <a:bodyPr>
            <a:normAutofit/>
          </a:bodyPr>
          <a:lstStyle>
            <a:lvl1pPr marL="0" indent="0" algn="r" rtl="1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flipH="1">
            <a:off x="5217267" y="5469856"/>
            <a:ext cx="5527351" cy="320123"/>
          </a:xfrm>
        </p:spPr>
        <p:txBody>
          <a:bodyPr/>
          <a:lstStyle>
            <a:lvl1pPr algn="r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flipH="1">
            <a:off x="5203614" y="318640"/>
            <a:ext cx="5541004" cy="32093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>
            <a:cxnSpLocks/>
          </p:cNvCxnSpPr>
          <p:nvPr/>
        </p:nvCxnSpPr>
        <p:spPr>
          <a:xfrm flipH="1">
            <a:off x="5217267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137146" y="804519"/>
            <a:ext cx="9603275" cy="1049235"/>
          </a:xfrm>
        </p:spPr>
        <p:txBody>
          <a:bodyPr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1137146" y="2015732"/>
            <a:ext cx="9603275" cy="3450613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>
            <a:cxnSpLocks/>
          </p:cNvCxnSpPr>
          <p:nvPr/>
        </p:nvCxnSpPr>
        <p:spPr>
          <a:xfrm flipH="1">
            <a:off x="1130582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flipH="1">
            <a:off x="1137147" y="798973"/>
            <a:ext cx="1615742" cy="4659889"/>
          </a:xfrm>
        </p:spPr>
        <p:txBody>
          <a:bodyPr vert="eaVert"/>
          <a:lstStyle>
            <a:lvl1pPr algn="r" rtl="1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flipH="1">
            <a:off x="2918498" y="798973"/>
            <a:ext cx="7828830" cy="4659889"/>
          </a:xfrm>
        </p:spPr>
        <p:txBody>
          <a:bodyPr vert="eaVert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flipH="1">
            <a:off x="1137147" y="330370"/>
            <a:ext cx="3500715" cy="309201"/>
          </a:xfrm>
        </p:spPr>
        <p:txBody>
          <a:bodyPr/>
          <a:lstStyle>
            <a:lvl1pPr algn="l" rtl="1">
              <a:defRPr/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flipH="1">
            <a:off x="4801585" y="329307"/>
            <a:ext cx="5938836" cy="309201"/>
          </a:xfrm>
        </p:spPr>
        <p:txBody>
          <a:bodyPr/>
          <a:lstStyle>
            <a:lvl1pPr algn="r" rtl="1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10900921" y="798973"/>
            <a:ext cx="811019" cy="503578"/>
          </a:xfrm>
        </p:spPr>
        <p:txBody>
          <a:bodyPr/>
          <a:lstStyle>
            <a:lvl1pPr algn="l" rtl="1">
              <a:defRPr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 flipH="1">
            <a:off x="2752889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S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 flipH="1"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 flipH="1">
            <a:off x="1137146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137146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flipH="1">
            <a:off x="1137147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flipH="1">
            <a:off x="4801585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flipH="1">
            <a:off x="10900921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1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 flipH="1"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815F440-3600-7348-0E5E-DC98FBB08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137147" y="802299"/>
            <a:ext cx="6305872" cy="185241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Hotel Management System Database</a:t>
            </a:r>
            <a:endParaRPr lang="ar-SA" sz="4000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F191FBD-68F7-0B53-E3D1-8324FFD54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37148" y="3531204"/>
            <a:ext cx="6581175" cy="235831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Presented by  </a:t>
            </a:r>
          </a:p>
          <a:p>
            <a:pPr algn="l"/>
            <a:r>
              <a:rPr lang="ar-SA" dirty="0"/>
              <a:t>يوسف محمد عبدالتواب </a:t>
            </a:r>
          </a:p>
          <a:p>
            <a:pPr algn="l"/>
            <a:r>
              <a:rPr lang="ar-SA" dirty="0"/>
              <a:t>عبدالله محمد </a:t>
            </a:r>
            <a:r>
              <a:rPr lang="ar-SA" dirty="0" err="1"/>
              <a:t>أبوالفتوح</a:t>
            </a:r>
            <a:endParaRPr lang="ar-SA" dirty="0"/>
          </a:p>
          <a:p>
            <a:pPr algn="l"/>
            <a:r>
              <a:rPr lang="ar-SA" dirty="0"/>
              <a:t>مروان خالد محمد </a:t>
            </a:r>
          </a:p>
          <a:p>
            <a:pPr algn="l"/>
            <a:r>
              <a:rPr lang="ar-SA" dirty="0"/>
              <a:t>عبدالقادر محمد عبدالقادر</a:t>
            </a:r>
          </a:p>
        </p:txBody>
      </p:sp>
      <p:pic>
        <p:nvPicPr>
          <p:cNvPr id="5" name="صورة 4" descr="صورة تحتوي على طبق ساخن">
            <a:extLst>
              <a:ext uri="{FF2B5EF4-FFF2-40B4-BE49-F238E27FC236}">
                <a16:creationId xmlns:a16="http://schemas.microsoft.com/office/drawing/2014/main" id="{C7F27D61-184F-9D02-B8D3-4E2A2CAAB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323" y="604656"/>
            <a:ext cx="3896269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9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35AD4B-544D-1DF7-CB5C-034C0677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entities</a:t>
            </a:r>
            <a:endParaRPr lang="ar-SA" dirty="0"/>
          </a:p>
        </p:txBody>
      </p:sp>
      <p:sp>
        <p:nvSpPr>
          <p:cNvPr id="7" name="عنصر نائب للمحتوى 6">
            <a:extLst>
              <a:ext uri="{FF2B5EF4-FFF2-40B4-BE49-F238E27FC236}">
                <a16:creationId xmlns:a16="http://schemas.microsoft.com/office/drawing/2014/main" id="{CA5BBC6A-4F8B-F99A-BDCE-378ACF63BC8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7146" y="2015732"/>
            <a:ext cx="5047344" cy="3450613"/>
          </a:xfrm>
        </p:spPr>
        <p:txBody>
          <a:bodyPr/>
          <a:lstStyle/>
          <a:p>
            <a:pPr algn="l"/>
            <a:r>
              <a:rPr lang="en-US" dirty="0"/>
              <a:t>The following table illustrates the basic entities in the system and some of their important features:</a:t>
            </a:r>
            <a:endParaRPr lang="ar-SA" dirty="0"/>
          </a:p>
        </p:txBody>
      </p:sp>
      <p:pic>
        <p:nvPicPr>
          <p:cNvPr id="9" name="صورة 8" descr="صورة تحتوي على نص, لقطة شاشة, رقم, الخط">
            <a:extLst>
              <a:ext uri="{FF2B5EF4-FFF2-40B4-BE49-F238E27FC236}">
                <a16:creationId xmlns:a16="http://schemas.microsoft.com/office/drawing/2014/main" id="{BEB6B4EA-3179-983C-B283-3D2ED4109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980" y="0"/>
            <a:ext cx="5919020" cy="6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عنوان 10">
            <a:extLst>
              <a:ext uri="{FF2B5EF4-FFF2-40B4-BE49-F238E27FC236}">
                <a16:creationId xmlns:a16="http://schemas.microsoft.com/office/drawing/2014/main" id="{02F283FB-838E-4EDB-D3EB-C18230FC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First notation </a:t>
            </a:r>
            <a:endParaRPr lang="ar-SA" dirty="0"/>
          </a:p>
        </p:txBody>
      </p:sp>
      <p:sp>
        <p:nvSpPr>
          <p:cNvPr id="12" name="عنصر نائب للمحتوى 11">
            <a:extLst>
              <a:ext uri="{FF2B5EF4-FFF2-40B4-BE49-F238E27FC236}">
                <a16:creationId xmlns:a16="http://schemas.microsoft.com/office/drawing/2014/main" id="{ACAB0A8A-419B-DB5B-4ACE-BD8CC46C89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dirty="0"/>
              <a:t>2) Room — Reservation Room </a:t>
            </a:r>
          </a:p>
          <a:p>
            <a:pPr algn="l"/>
            <a:r>
              <a:rPr lang="en-US" dirty="0"/>
              <a:t>(1) —— (M) Reservation Meaning: • A room can be reserved many times (different dates). • A reservation uses one room. </a:t>
            </a:r>
            <a:endParaRPr lang="ar-SA" dirty="0"/>
          </a:p>
        </p:txBody>
      </p:sp>
      <p:sp>
        <p:nvSpPr>
          <p:cNvPr id="13" name="عنصر نائب للمحتوى 12">
            <a:extLst>
              <a:ext uri="{FF2B5EF4-FFF2-40B4-BE49-F238E27FC236}">
                <a16:creationId xmlns:a16="http://schemas.microsoft.com/office/drawing/2014/main" id="{FD75F450-889A-E3DB-4F27-82A82A5028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en-US" dirty="0"/>
              <a:t>1) Guest — Reservation Guest </a:t>
            </a:r>
          </a:p>
          <a:p>
            <a:pPr algn="l"/>
            <a:r>
              <a:rPr lang="en-US" dirty="0"/>
              <a:t>(1) —— (M) Reservation Meaning: • One guest can have many reservations. • Each reservation belongs to exactly one guest.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21906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/>
      <p:bldP spid="1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C43D-3220-C41F-28AC-476BF857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2687140-C8C7-5C3C-D530-7636E0D3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First notation </a:t>
            </a:r>
            <a:endParaRPr lang="ar-SA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2743DEC-4A18-9DB3-23BE-2AC3EFB602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dirty="0"/>
              <a:t>4) Reservation — Payment Reservation (1) —— (1) Payment (Based on your design: one payment per reservation) Meaning: • Each reservation has one payment entry. • Each payment corresponds to one reservation.</a:t>
            </a:r>
            <a:endParaRPr lang="ar-SA" dirty="0"/>
          </a:p>
        </p:txBody>
      </p:sp>
      <p:sp>
        <p:nvSpPr>
          <p:cNvPr id="5" name="عنصر نائب للمحتوى 4">
            <a:extLst>
              <a:ext uri="{FF2B5EF4-FFF2-40B4-BE49-F238E27FC236}">
                <a16:creationId xmlns:a16="http://schemas.microsoft.com/office/drawing/2014/main" id="{D6E844FB-E4AF-1D30-B3FE-F7F4070EF4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en-US" dirty="0"/>
              <a:t>3) </a:t>
            </a:r>
            <a:r>
              <a:rPr lang="en-US" dirty="0" err="1"/>
              <a:t>Room_Type</a:t>
            </a:r>
            <a:r>
              <a:rPr lang="en-US" dirty="0"/>
              <a:t> — Room </a:t>
            </a:r>
            <a:r>
              <a:rPr lang="en-US" dirty="0" err="1"/>
              <a:t>Room_Type</a:t>
            </a:r>
            <a:r>
              <a:rPr lang="en-US" dirty="0"/>
              <a:t> (1) —— (M) Room Meaning: • One room type (single/double/etc.) applies to many rooms. • Each room belongs to exactly one room type.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56653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5F1963C-D336-00A5-FEA2-F8A878F6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First notation </a:t>
            </a:r>
            <a:endParaRPr lang="ar-SA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53EF0A0D-30FD-41C3-A9FC-F0C8D7E731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dirty="0"/>
              <a:t>6) Service — </a:t>
            </a:r>
            <a:r>
              <a:rPr lang="en-US" dirty="0" err="1"/>
              <a:t>Service_Usage</a:t>
            </a:r>
            <a:r>
              <a:rPr lang="en-US" dirty="0"/>
              <a:t> Service </a:t>
            </a:r>
          </a:p>
          <a:p>
            <a:pPr algn="l"/>
            <a:r>
              <a:rPr lang="en-US" dirty="0"/>
              <a:t>(1) —— (M) </a:t>
            </a:r>
            <a:r>
              <a:rPr lang="en-US" dirty="0" err="1"/>
              <a:t>Service_Usage</a:t>
            </a:r>
            <a:r>
              <a:rPr lang="en-US" dirty="0"/>
              <a:t> Meaning: • A service can be used multiple times. • Each usage record represents one specific service used by one guest. </a:t>
            </a:r>
            <a:endParaRPr lang="ar-SA" dirty="0"/>
          </a:p>
        </p:txBody>
      </p:sp>
      <p:sp>
        <p:nvSpPr>
          <p:cNvPr id="5" name="عنصر نائب للمحتوى 4">
            <a:extLst>
              <a:ext uri="{FF2B5EF4-FFF2-40B4-BE49-F238E27FC236}">
                <a16:creationId xmlns:a16="http://schemas.microsoft.com/office/drawing/2014/main" id="{81BA95CA-A404-99FE-630A-D9EE5B8F1A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en-US" dirty="0"/>
              <a:t>5) Guest — Feedback Guest </a:t>
            </a:r>
          </a:p>
          <a:p>
            <a:pPr algn="l"/>
            <a:r>
              <a:rPr lang="en-US" dirty="0"/>
              <a:t>(1) —— (M) Feedback Meaning: • One guest may write many feedback entries. • Each feedback belongs to one guest.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15579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0C7E7-F019-7D67-87C7-9AE63B78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C772CE4-E4E3-8F2F-D268-3842418A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First notation </a:t>
            </a:r>
            <a:endParaRPr lang="ar-SA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AADA243C-FE69-2ADB-B01A-F43F18540C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dirty="0"/>
              <a:t>8) Department — Employees Department (1) —— (M) Employee Meaning: • One department contains many employees. • Each employee belongs to one department. </a:t>
            </a:r>
            <a:endParaRPr lang="ar-SA" dirty="0"/>
          </a:p>
        </p:txBody>
      </p:sp>
      <p:sp>
        <p:nvSpPr>
          <p:cNvPr id="5" name="عنصر نائب للمحتوى 4">
            <a:extLst>
              <a:ext uri="{FF2B5EF4-FFF2-40B4-BE49-F238E27FC236}">
                <a16:creationId xmlns:a16="http://schemas.microsoft.com/office/drawing/2014/main" id="{6D57A92A-C0C7-F5D4-523D-0395BABCCA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en-US" dirty="0"/>
              <a:t>7) Guest — </a:t>
            </a:r>
            <a:r>
              <a:rPr lang="en-US" dirty="0" err="1"/>
              <a:t>Service_Usage</a:t>
            </a:r>
            <a:r>
              <a:rPr lang="en-US" dirty="0"/>
              <a:t> Guest </a:t>
            </a:r>
          </a:p>
          <a:p>
            <a:pPr algn="l"/>
            <a:r>
              <a:rPr lang="en-US" dirty="0"/>
              <a:t>(1) —— (M) </a:t>
            </a:r>
            <a:r>
              <a:rPr lang="en-US" dirty="0" err="1"/>
              <a:t>Service_Usage</a:t>
            </a:r>
            <a:r>
              <a:rPr lang="en-US" dirty="0"/>
              <a:t> Meaning: • A guest can use multiple services. • Each usage record belongs to one guest.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39212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عنوان 6">
            <a:extLst>
              <a:ext uri="{FF2B5EF4-FFF2-40B4-BE49-F238E27FC236}">
                <a16:creationId xmlns:a16="http://schemas.microsoft.com/office/drawing/2014/main" id="{B1F275B7-5FFF-691F-E071-D7D26B32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Final Summary (Only Chen Notation)</a:t>
            </a:r>
            <a:endParaRPr lang="ar-SA" dirty="0"/>
          </a:p>
        </p:txBody>
      </p:sp>
      <p:pic>
        <p:nvPicPr>
          <p:cNvPr id="10" name="صورة 9" descr="صورة تحتوي على نص, لقطة شاشة, الخط, الجبر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32CCBEA-511B-E2EB-7504-F96D4ABA4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372" y="2173957"/>
            <a:ext cx="3877216" cy="3134162"/>
          </a:xfrm>
          <a:prstGeom prst="rect">
            <a:avLst/>
          </a:prstGeom>
        </p:spPr>
      </p:pic>
      <p:pic>
        <p:nvPicPr>
          <p:cNvPr id="12" name="صورة 11" descr="صورة تحتوي على نص, لقطة شاشة, الخط, الجبر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8D12821-36B6-8817-D673-8E0353E99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526" y="2173957"/>
            <a:ext cx="4133850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9ED8A05-0924-E98C-2FAF-C6BEC096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Min and max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5968634-EC96-4284-2320-2DB2905893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dirty="0"/>
              <a:t>2) Room — Reservation Room </a:t>
            </a:r>
          </a:p>
          <a:p>
            <a:pPr algn="l"/>
            <a:r>
              <a:rPr lang="en-US" dirty="0"/>
              <a:t>(1,1) —— (0,N) Reservation Meaning: • A reservation must be tied to exactly one room → (1,1) • A room can have zero or many reservations over</a:t>
            </a:r>
          </a:p>
          <a:p>
            <a:pPr algn="l"/>
            <a:r>
              <a:rPr lang="en-US" dirty="0"/>
              <a:t> time → (0,N)</a:t>
            </a:r>
            <a:endParaRPr lang="ar-SA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90E5F75-9016-B05C-8717-AB60B344F3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en-US" dirty="0"/>
              <a:t>1) Guest — Reservation Guest </a:t>
            </a:r>
          </a:p>
          <a:p>
            <a:pPr algn="l"/>
            <a:r>
              <a:rPr lang="en-US" dirty="0"/>
              <a:t>(1,1) —— (0,N) Reservation Meaning: • A reservation must belong to exactly one guest → (1,1) • A guest may have zero or many reservations → (0,N)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53495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640DC-6D9A-08DC-048A-26A7B65A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ED6363B-A82D-EEEF-5821-F94CA7A5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Min and max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949F3B7-4D8F-9D09-B740-CB7F927209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dirty="0"/>
              <a:t>4) Reservation — Payment Reservation </a:t>
            </a:r>
          </a:p>
          <a:p>
            <a:pPr algn="l"/>
            <a:r>
              <a:rPr lang="en-US" dirty="0"/>
              <a:t>(1,1) —— (0,1) Payment Meaning: </a:t>
            </a:r>
          </a:p>
          <a:p>
            <a:pPr algn="l"/>
            <a:r>
              <a:rPr lang="en-US" dirty="0"/>
              <a:t>• A reservation must have exactly one associated record in your schema? Actually your design allows: Payment table:</a:t>
            </a:r>
          </a:p>
          <a:p>
            <a:pPr algn="l"/>
            <a:r>
              <a:rPr lang="en-US" dirty="0"/>
              <a:t> </a:t>
            </a:r>
            <a:r>
              <a:rPr lang="en-US" dirty="0" err="1"/>
              <a:t>reservationID</a:t>
            </a:r>
            <a:r>
              <a:rPr lang="en-US" dirty="0"/>
              <a:t> (FK) → NOT required to be unique But logically: one reservation → one payment So: • A reservation may have zero or one payment → (0,1) • A payment must belong to one reservation → (1,1) So the relationship is: Reservation (0,1) —— (1,1) Payment</a:t>
            </a:r>
            <a:endParaRPr lang="ar-SA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D140884C-9D4D-3B85-E1DC-0F4D942023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dirty="0"/>
              <a:t>3) </a:t>
            </a:r>
            <a:r>
              <a:rPr lang="en-US" dirty="0" err="1"/>
              <a:t>Room_Type</a:t>
            </a:r>
            <a:r>
              <a:rPr lang="en-US" dirty="0"/>
              <a:t> — Room </a:t>
            </a:r>
            <a:r>
              <a:rPr lang="en-US" dirty="0" err="1"/>
              <a:t>Room_Type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(1,1) —— (1,N) Room Meaning: • Every room must belong to one room type → (1,1) </a:t>
            </a:r>
          </a:p>
          <a:p>
            <a:pPr algn="l"/>
            <a:r>
              <a:rPr lang="en-US" dirty="0"/>
              <a:t>• A room type must have at least one </a:t>
            </a:r>
          </a:p>
          <a:p>
            <a:pPr algn="l"/>
            <a:r>
              <a:rPr lang="en-US" dirty="0"/>
              <a:t>room → (1,N) (Unless hotel defines unused types — but we assume design requires at least one room.)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94783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AC5A-C1EC-54F9-3894-9914C701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BAA98E8-2A97-1793-8B29-72032D01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39034" y="804889"/>
            <a:ext cx="9605635" cy="1059305"/>
          </a:xfrm>
        </p:spPr>
        <p:txBody>
          <a:bodyPr/>
          <a:lstStyle/>
          <a:p>
            <a:pPr algn="l"/>
            <a:r>
              <a:rPr lang="en-US" dirty="0"/>
              <a:t>Min and max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4F8A870-9EEA-81AB-0F03-25F1D27C4B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dirty="0"/>
              <a:t>6) Service — </a:t>
            </a:r>
            <a:r>
              <a:rPr lang="en-US" dirty="0" err="1"/>
              <a:t>Service_Usage</a:t>
            </a:r>
            <a:r>
              <a:rPr lang="en-US" dirty="0"/>
              <a:t> Service (1,1) —— (0,N) </a:t>
            </a:r>
            <a:r>
              <a:rPr lang="en-US" dirty="0" err="1"/>
              <a:t>Service_Usage</a:t>
            </a:r>
            <a:r>
              <a:rPr lang="en-US" dirty="0"/>
              <a:t> • Each service usage line must refer to one service → (1,1) • A service can be used many times → (0,N)</a:t>
            </a:r>
            <a:endParaRPr lang="ar-SA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E6AA53E9-4C96-EB98-5DD2-1373518C2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H="1">
            <a:off x="1134963" y="2017343"/>
            <a:ext cx="4645152" cy="3441520"/>
          </a:xfrm>
        </p:spPr>
        <p:txBody>
          <a:bodyPr/>
          <a:lstStyle/>
          <a:p>
            <a:pPr algn="l"/>
            <a:r>
              <a:rPr lang="en-US" dirty="0"/>
              <a:t>5) Guest — Feedback Guest </a:t>
            </a:r>
          </a:p>
          <a:p>
            <a:pPr algn="l"/>
            <a:r>
              <a:rPr lang="en-US" dirty="0"/>
              <a:t>(1,1) —— (0,N) Feedback Meaning: • A feedback entry must belong to a </a:t>
            </a:r>
          </a:p>
          <a:p>
            <a:pPr algn="l"/>
            <a:r>
              <a:rPr lang="en-US" dirty="0"/>
              <a:t>guest → (1,1) • A guest may leave zero or many feedbacks → (0,N)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41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449A-28C7-CDAA-5D4B-596D8F4B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B1FD72E-CFFD-FB78-49F3-9D0E2AE3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Min and max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4CFF125-B4C8-B7A0-DE61-8473A2B5F6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dirty="0"/>
              <a:t>8) Department — Employees Department (1,1) —— (0,N) Employees Meaning: • Each employee must belong to one department → (1,1) • A department can have zero or many employees → (0,N)</a:t>
            </a:r>
            <a:endParaRPr lang="ar-SA" dirty="0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B351CBE8-F989-8B64-D212-6D66FC4A32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en-US" dirty="0"/>
              <a:t>7) Guest — </a:t>
            </a:r>
            <a:r>
              <a:rPr lang="en-US" dirty="0" err="1"/>
              <a:t>Service_Usage</a:t>
            </a:r>
            <a:r>
              <a:rPr lang="en-US" dirty="0"/>
              <a:t> Guest </a:t>
            </a:r>
          </a:p>
          <a:p>
            <a:pPr algn="l"/>
            <a:r>
              <a:rPr lang="en-US" dirty="0"/>
              <a:t>(1,1) —— (0,N) </a:t>
            </a:r>
            <a:r>
              <a:rPr lang="en-US" dirty="0" err="1"/>
              <a:t>Service_Usage</a:t>
            </a:r>
            <a:r>
              <a:rPr lang="en-US" dirty="0"/>
              <a:t> Meaning: • A service usage must belong to one guest → (1,1) • A guest can have zero or many service usage records → (0,N)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2010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1120E2B-04C0-A854-D328-6D5C6E3C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Full Summary Table (Min, Max)</a:t>
            </a:r>
            <a:endParaRPr lang="ar-SA" dirty="0"/>
          </a:p>
        </p:txBody>
      </p:sp>
      <p:pic>
        <p:nvPicPr>
          <p:cNvPr id="6" name="صورة 5" descr="صورة تحتوي على نص, لقطة شاشة, الخط, رق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EF4F6ED-9E3E-372B-B2E6-216D91671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217" y="2175898"/>
            <a:ext cx="6340510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2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 descr="صورة تحتوي على نص, رسم بياني, التصميم">
            <a:extLst>
              <a:ext uri="{FF2B5EF4-FFF2-40B4-BE49-F238E27FC236}">
                <a16:creationId xmlns:a16="http://schemas.microsoft.com/office/drawing/2014/main" id="{C90FFD39-FDCC-20DF-6837-BABE3F98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242443"/>
            <a:ext cx="11393490" cy="590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4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نص, لقطة شاشة, رسم بياني, الخط">
            <a:extLst>
              <a:ext uri="{FF2B5EF4-FFF2-40B4-BE49-F238E27FC236}">
                <a16:creationId xmlns:a16="http://schemas.microsoft.com/office/drawing/2014/main" id="{74D64B61-8AEA-CE0A-2468-44A21D456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218627"/>
            <a:ext cx="11431595" cy="592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9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خط يد, فن الطفل, الرسومات, رس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D35BA311-FF78-14EC-45D9-5545EE0FE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40" y="75732"/>
            <a:ext cx="9631119" cy="596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0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gt.TF10001114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gt.TF10001114" id="{B03833A1-27E4-448A-90B4-E61AA9C501C1}" vid="{2F555BA9-9151-4265-BF8D-A6A2310BB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{D698AE6D-8856-4456-9607-BA9BC0DB1732}TFc986dd65-aaf0-4d5c-bef9-9c391ee05f7bbc8c6789_win32-f706226ed230</Template>
  <TotalTime>52</TotalTime>
  <Words>823</Words>
  <Application>Microsoft Office PowerPoint</Application>
  <PresentationFormat>شاشة عريضة</PresentationFormat>
  <Paragraphs>51</Paragraphs>
  <Slides>15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tgt.TF10001114</vt:lpstr>
      <vt:lpstr>Hotel Management System Database</vt:lpstr>
      <vt:lpstr>entities</vt:lpstr>
      <vt:lpstr>First notation </vt:lpstr>
      <vt:lpstr>First notation </vt:lpstr>
      <vt:lpstr>First notation </vt:lpstr>
      <vt:lpstr>First notation </vt:lpstr>
      <vt:lpstr>Final Summary (Only Chen Notation)</vt:lpstr>
      <vt:lpstr>Min and max</vt:lpstr>
      <vt:lpstr>Min and max</vt:lpstr>
      <vt:lpstr>Min and max</vt:lpstr>
      <vt:lpstr>Min and max</vt:lpstr>
      <vt:lpstr>Full Summary Table (Min, Max)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 القادر محمد عبد القادر محمد احمد</dc:creator>
  <cp:lastModifiedBy>عبد القادر محمد عبد القادر محمد احمد</cp:lastModifiedBy>
  <cp:revision>1</cp:revision>
  <dcterms:created xsi:type="dcterms:W3CDTF">2025-12-13T21:32:14Z</dcterms:created>
  <dcterms:modified xsi:type="dcterms:W3CDTF">2025-12-13T22:25:09Z</dcterms:modified>
</cp:coreProperties>
</file>